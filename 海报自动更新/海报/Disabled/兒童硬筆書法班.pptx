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571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2235" y="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5720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4718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3602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8370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52527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2749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8988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820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1909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6304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795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A6FB99-1A8A-47BC-898D-A480BB7A6D65}" type="datetimeFigureOut">
              <a:rPr lang="zh-HK" altLang="en-US" smtClean="0"/>
              <a:t>21/11/2025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5D301-A3D6-43C2-980C-E8910DFEDCDD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479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8.jpg"/><Relationship Id="rId4" Type="http://schemas.openxmlformats.org/officeDocument/2006/relationships/image" Target="../media/image3.jp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DB913-E3F0-9829-3E3E-2F2EF42E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三腳架, 畫架, 設計 的圖片&#10;&#10;AI 產生的內容可能不正確。">
            <a:extLst>
              <a:ext uri="{FF2B5EF4-FFF2-40B4-BE49-F238E27FC236}">
                <a16:creationId xmlns:a16="http://schemas.microsoft.com/office/drawing/2014/main" id="{A958F775-5F80-6510-0297-C76073256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393" y="-15554"/>
            <a:ext cx="6917018" cy="992155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30663F4-6515-EB45-6899-9B44500E8CD6}"/>
              </a:ext>
            </a:extLst>
          </p:cNvPr>
          <p:cNvSpPr/>
          <p:nvPr/>
        </p:nvSpPr>
        <p:spPr>
          <a:xfrm>
            <a:off x="746155" y="3398650"/>
            <a:ext cx="6715293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對象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5</a:t>
            </a:r>
            <a:r>
              <a:rPr lang="zh-CN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歲或以上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費用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: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(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會員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</a:t>
            </a:r>
            <a:r>
              <a:rPr lang="en-US" altLang="zh-TW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$450/6</a:t>
            </a:r>
            <a:r>
              <a:rPr lang="zh-TW" altLang="en-US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堂</a:t>
            </a:r>
            <a:endParaRPr lang="en-US" altLang="zh-TW" sz="3200" b="1" dirty="0">
              <a:solidFill>
                <a:srgbClr val="0070C0"/>
              </a:solidFill>
              <a:latin typeface="新細明體" panose="02020500000000000000" pitchFamily="18" charset="-120"/>
              <a:ea typeface="新細明體" panose="02020500000000000000" pitchFamily="18" charset="-120"/>
            </a:endParaRPr>
          </a:p>
          <a:p>
            <a:r>
              <a:rPr lang="zh-TW" altLang="en-US" sz="2800" b="1" dirty="0">
                <a:solidFill>
                  <a:srgbClr val="0070C0"/>
                </a:solidFill>
              </a:rPr>
              <a:t>內容</a:t>
            </a:r>
            <a:r>
              <a:rPr lang="en-US" altLang="zh-TW" sz="2800" b="1" dirty="0">
                <a:solidFill>
                  <a:srgbClr val="0070C0"/>
                </a:solidFill>
              </a:rPr>
              <a:t>:</a:t>
            </a:r>
            <a:r>
              <a:rPr lang="zh-CN" altLang="en-US" sz="2800" b="1" dirty="0">
                <a:solidFill>
                  <a:srgbClr val="0070C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教授</a:t>
            </a:r>
            <a:r>
              <a:rPr lang="zh-TW" altLang="en-US" sz="2800" b="1" dirty="0">
                <a:solidFill>
                  <a:srgbClr val="0070C0"/>
                </a:solidFill>
              </a:rPr>
              <a:t>掌握正確的坐姿、握筆姿</a:t>
            </a:r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zh-TW" altLang="en-US" sz="2800" b="1" dirty="0">
                <a:solidFill>
                  <a:srgbClr val="0070C0"/>
                </a:solidFill>
              </a:rPr>
              <a:t>勢和基本筆畫，潛移默化地培養孩</a:t>
            </a:r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zh-TW" altLang="en-US" sz="2800" b="1" dirty="0">
                <a:solidFill>
                  <a:srgbClr val="0070C0"/>
                </a:solidFill>
              </a:rPr>
              <a:t>子的專注力</a:t>
            </a:r>
            <a:r>
              <a:rPr lang="zh-CN" altLang="en-US" sz="2800" b="1" dirty="0">
                <a:solidFill>
                  <a:srgbClr val="0070C0"/>
                </a:solidFill>
              </a:rPr>
              <a:t>，</a:t>
            </a:r>
            <a:r>
              <a:rPr lang="zh-TW" altLang="en-US" sz="2800" b="1" dirty="0">
                <a:solidFill>
                  <a:srgbClr val="0070C0"/>
                </a:solidFill>
              </a:rPr>
              <a:t>感受漢字的結構美和</a:t>
            </a:r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zh-TW" altLang="en-US" sz="2800" b="1" dirty="0">
                <a:solidFill>
                  <a:srgbClr val="0070C0"/>
                </a:solidFill>
              </a:rPr>
              <a:t>線條美。</a:t>
            </a:r>
            <a:endParaRPr lang="en-US" altLang="zh-TW" sz="2800" b="1" dirty="0">
              <a:solidFill>
                <a:srgbClr val="0070C0"/>
              </a:solidFill>
            </a:endParaRPr>
          </a:p>
          <a:p>
            <a:r>
              <a:rPr lang="en-US" altLang="zh-CN" sz="2000" b="1" dirty="0">
                <a:solidFill>
                  <a:srgbClr val="FF0000"/>
                </a:solidFill>
              </a:rPr>
              <a:t>【</a:t>
            </a:r>
            <a:r>
              <a:rPr lang="zh-CN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自備鉛筆及</a:t>
            </a:r>
            <a:r>
              <a:rPr lang="zh-TW" altLang="en-US" sz="2000" b="1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田字格或米字格練習本</a:t>
            </a:r>
            <a:r>
              <a:rPr lang="en-US" altLang="zh-CN" sz="2000" b="1" dirty="0">
                <a:solidFill>
                  <a:srgbClr val="FF0000"/>
                </a:solidFill>
              </a:rPr>
              <a:t>】</a:t>
            </a:r>
            <a:endParaRPr lang="en-US" altLang="zh-TW" sz="2000" b="1" dirty="0">
              <a:solidFill>
                <a:srgbClr val="FF0000"/>
              </a:solidFill>
            </a:endParaRPr>
          </a:p>
        </p:txBody>
      </p:sp>
      <p:pic>
        <p:nvPicPr>
          <p:cNvPr id="4" name="圖片 3" descr="屯門婦聯TMWA_LOGO_V9OP-012012">
            <a:extLst>
              <a:ext uri="{FF2B5EF4-FFF2-40B4-BE49-F238E27FC236}">
                <a16:creationId xmlns:a16="http://schemas.microsoft.com/office/drawing/2014/main" id="{759BE13C-4DF9-A0CF-6171-3C3CCE054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524" y="218210"/>
            <a:ext cx="2108200" cy="800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圖片 4" descr="一張含有 樣式, 圖形, 圓形, 黑與白 的圖片&#10;&#10;AI 產生的內容可能不正確。">
            <a:extLst>
              <a:ext uri="{FF2B5EF4-FFF2-40B4-BE49-F238E27FC236}">
                <a16:creationId xmlns:a16="http://schemas.microsoft.com/office/drawing/2014/main" id="{69389841-8A82-C752-48E2-C0E44349D0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7231" y="-15552"/>
            <a:ext cx="1270387" cy="1245693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C98EC254-A74B-CDCA-6059-FB2304D08910}"/>
              </a:ext>
            </a:extLst>
          </p:cNvPr>
          <p:cNvSpPr txBox="1"/>
          <p:nvPr/>
        </p:nvSpPr>
        <p:spPr>
          <a:xfrm>
            <a:off x="910622" y="1498214"/>
            <a:ext cx="505458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 w="1905"/>
                <a:gradFill>
                  <a:gsLst>
                    <a:gs pos="0">
                      <a:srgbClr val="F79646">
                        <a:shade val="20000"/>
                        <a:satMod val="200000"/>
                      </a:srgbClr>
                    </a:gs>
                    <a:gs pos="78000">
                      <a:srgbClr val="F79646">
                        <a:tint val="90000"/>
                        <a:shade val="89000"/>
                        <a:satMod val="220000"/>
                      </a:srgbClr>
                    </a:gs>
                    <a:gs pos="100000">
                      <a:srgbClr val="F79646">
                        <a:tint val="12000"/>
                        <a:satMod val="255000"/>
                      </a:srgb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uLnTx/>
                <a:uFillTx/>
                <a:latin typeface="Rockwell"/>
                <a:ea typeface="方正姚体" panose="02010601030101010101" pitchFamily="2" charset="-122"/>
                <a:cs typeface="+mn-cs"/>
              </a:rPr>
              <a:t>兒童硬筆書法班</a:t>
            </a:r>
            <a:endParaRPr kumimoji="0" lang="en-US" altLang="zh-CN" sz="5400" b="1" i="0" u="none" strike="noStrike" kern="1200" cap="none" spc="0" normalizeH="0" baseline="0" noProof="0" dirty="0">
              <a:ln w="1905"/>
              <a:gradFill>
                <a:gsLst>
                  <a:gs pos="0">
                    <a:srgbClr val="F79646">
                      <a:shade val="20000"/>
                      <a:satMod val="200000"/>
                    </a:srgbClr>
                  </a:gs>
                  <a:gs pos="78000">
                    <a:srgbClr val="F79646">
                      <a:tint val="90000"/>
                      <a:shade val="89000"/>
                      <a:satMod val="220000"/>
                    </a:srgbClr>
                  </a:gs>
                  <a:gs pos="100000">
                    <a:srgbClr val="F79646">
                      <a:tint val="12000"/>
                      <a:satMod val="255000"/>
                    </a:srgb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uLnTx/>
              <a:uFillTx/>
              <a:latin typeface="Rockwell"/>
              <a:ea typeface="方正姚体" panose="02010601030101010101" pitchFamily="2" charset="-122"/>
              <a:cs typeface="+mn-cs"/>
            </a:endParaRPr>
          </a:p>
        </p:txBody>
      </p:sp>
      <p:pic>
        <p:nvPicPr>
          <p:cNvPr id="23" name="圖片 22" descr="一張含有 服裝, 動畫卡通, 動畫, 美工圖案 的圖片&#10;&#10;AI 產生的內容可能不正確。">
            <a:extLst>
              <a:ext uri="{FF2B5EF4-FFF2-40B4-BE49-F238E27FC236}">
                <a16:creationId xmlns:a16="http://schemas.microsoft.com/office/drawing/2014/main" id="{DD785F7F-295F-222B-9193-5768F5DF6C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920" y="-15552"/>
            <a:ext cx="1395638" cy="1188877"/>
          </a:xfrm>
          <a:prstGeom prst="rect">
            <a:avLst/>
          </a:prstGeom>
        </p:spPr>
      </p:pic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D782CE5B-0945-F4FE-4A1D-3D47E9CB820A}"/>
              </a:ext>
            </a:extLst>
          </p:cNvPr>
          <p:cNvSpPr/>
          <p:nvPr/>
        </p:nvSpPr>
        <p:spPr>
          <a:xfrm>
            <a:off x="1972952" y="6561855"/>
            <a:ext cx="2952328" cy="700088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/>
              <a:t>上課地點</a:t>
            </a:r>
            <a:r>
              <a:rPr lang="en-US" altLang="zh-TW" sz="2000" dirty="0"/>
              <a:t>:</a:t>
            </a:r>
            <a:r>
              <a:rPr lang="zh-TW" altLang="en-US" sz="2000" dirty="0"/>
              <a:t>山景社區會堂</a:t>
            </a:r>
          </a:p>
        </p:txBody>
      </p:sp>
      <p:pic>
        <p:nvPicPr>
          <p:cNvPr id="10" name="圖片 9" descr="一張含有 卡通, 美工圖案, 動畫卡通, 玩具 的圖片&#10;&#10;AI 產生的內容可能不正確。">
            <a:extLst>
              <a:ext uri="{FF2B5EF4-FFF2-40B4-BE49-F238E27FC236}">
                <a16:creationId xmlns:a16="http://schemas.microsoft.com/office/drawing/2014/main" id="{3FD22E3E-4B65-09E3-33A2-E46D6CE2C8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740" y="2034170"/>
            <a:ext cx="2749274" cy="2618998"/>
          </a:xfrm>
          <a:prstGeom prst="rect">
            <a:avLst/>
          </a:prstGeom>
        </p:spPr>
      </p:pic>
      <p:pic>
        <p:nvPicPr>
          <p:cNvPr id="18" name="圖片 17" descr="一張含有 卡通, 動畫卡通, 圖解, 動畫 的圖片&#10;&#10;AI 產生的內容可能不正確。">
            <a:extLst>
              <a:ext uri="{FF2B5EF4-FFF2-40B4-BE49-F238E27FC236}">
                <a16:creationId xmlns:a16="http://schemas.microsoft.com/office/drawing/2014/main" id="{EA4B415B-0CC7-5C4D-C3CA-7F8873DAEE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5064" y="7473280"/>
            <a:ext cx="2910365" cy="2644057"/>
          </a:xfrm>
          <a:prstGeom prst="rect">
            <a:avLst/>
          </a:prstGeom>
        </p:spPr>
      </p:pic>
      <p:sp>
        <p:nvSpPr>
          <p:cNvPr id="33" name="日期">
            <a:extLst>
              <a:ext uri="{FF2B5EF4-FFF2-40B4-BE49-F238E27FC236}">
                <a16:creationId xmlns:a16="http://schemas.microsoft.com/office/drawing/2014/main" id="{17C30372-60BF-3854-AD0C-49549091A004}"/>
              </a:ext>
            </a:extLst>
          </p:cNvPr>
          <p:cNvSpPr txBox="1"/>
          <p:nvPr/>
        </p:nvSpPr>
        <p:spPr>
          <a:xfrm>
            <a:off x="789832" y="2334099"/>
            <a:ext cx="4107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日期</a:t>
            </a:r>
            <a:r>
              <a:rPr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: 06/1</a:t>
            </a:r>
            <a:r>
              <a:rPr lang="en-US" altLang="zh-CN"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1</a:t>
            </a:r>
            <a:r>
              <a:rPr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-10/01/2026</a:t>
            </a:r>
          </a:p>
        </p:txBody>
      </p:sp>
      <p:sp>
        <p:nvSpPr>
          <p:cNvPr id="34" name="時間">
            <a:extLst>
              <a:ext uri="{FF2B5EF4-FFF2-40B4-BE49-F238E27FC236}">
                <a16:creationId xmlns:a16="http://schemas.microsoft.com/office/drawing/2014/main" id="{985A992D-0568-90B3-A6F7-DA321FA622B1}"/>
              </a:ext>
            </a:extLst>
          </p:cNvPr>
          <p:cNvSpPr txBox="1"/>
          <p:nvPr/>
        </p:nvSpPr>
        <p:spPr>
          <a:xfrm>
            <a:off x="813750" y="2874051"/>
            <a:ext cx="3894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200" b="1" dirty="0" err="1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時間</a:t>
            </a:r>
            <a:r>
              <a:rPr sz="3200" b="1" dirty="0">
                <a:solidFill>
                  <a:srgbClr val="0070C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 : 14:30-15:30(六)</a:t>
            </a:r>
          </a:p>
        </p:txBody>
      </p:sp>
      <p:pic>
        <p:nvPicPr>
          <p:cNvPr id="40" name="圖片 39" descr="一張含有 圖畫, 兒童藝術, 寫生, 美工圖案 的圖片&#10;&#10;AI 產生的內容可能不正確。">
            <a:extLst>
              <a:ext uri="{FF2B5EF4-FFF2-40B4-BE49-F238E27FC236}">
                <a16:creationId xmlns:a16="http://schemas.microsoft.com/office/drawing/2014/main" id="{24C5DD13-8D41-B0E6-117D-D41040C262A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0" t="11649"/>
          <a:stretch>
            <a:fillRect/>
          </a:stretch>
        </p:blipFill>
        <p:spPr>
          <a:xfrm>
            <a:off x="2689926" y="8045985"/>
            <a:ext cx="1471704" cy="1345475"/>
          </a:xfrm>
          <a:prstGeom prst="rect">
            <a:avLst/>
          </a:prstGeom>
        </p:spPr>
      </p:pic>
      <p:pic>
        <p:nvPicPr>
          <p:cNvPr id="41" name="圖片 40" descr="一張含有 辦公用品, 文具, 兒童藝術, 一般物資 的圖片&#10;&#10;AI 產生的內容可能不正確。">
            <a:extLst>
              <a:ext uri="{FF2B5EF4-FFF2-40B4-BE49-F238E27FC236}">
                <a16:creationId xmlns:a16="http://schemas.microsoft.com/office/drawing/2014/main" id="{6888313C-6F10-FA0F-D4E7-27D446A0F0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384" y="7985871"/>
            <a:ext cx="1216776" cy="180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40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89</Words>
  <Application>Microsoft Office PowerPoint</Application>
  <PresentationFormat>A4 纸张(210x297 毫米)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標楷體</vt:lpstr>
      <vt:lpstr>新細明體</vt:lpstr>
      <vt:lpstr>Aptos</vt:lpstr>
      <vt:lpstr>Aptos Display</vt:lpstr>
      <vt:lpstr>Arial</vt:lpstr>
      <vt:lpstr>Rockwell</vt:lpstr>
      <vt:lpstr>Office 佈景主題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</dc:creator>
  <cp:lastModifiedBy>Jize CHEN</cp:lastModifiedBy>
  <cp:revision>4</cp:revision>
  <dcterms:created xsi:type="dcterms:W3CDTF">2025-11-17T06:29:13Z</dcterms:created>
  <dcterms:modified xsi:type="dcterms:W3CDTF">2025-11-21T08:39:33Z</dcterms:modified>
</cp:coreProperties>
</file>