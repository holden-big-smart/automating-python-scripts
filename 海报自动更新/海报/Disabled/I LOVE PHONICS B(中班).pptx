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5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60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99C7-CE02-EF14-022E-F77E21AB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屯門婦聯TMWA_LOGO_V9OP-012012">
            <a:extLst>
              <a:ext uri="{FF2B5EF4-FFF2-40B4-BE49-F238E27FC236}">
                <a16:creationId xmlns:a16="http://schemas.microsoft.com/office/drawing/2014/main" id="{587B3BFF-FF59-4295-60B4-49207C10B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6" y="48316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C1AA9F4E-B4F8-3768-C401-C84A4567B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38" y="20488"/>
            <a:ext cx="1412181" cy="138473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DFD76A8-852D-70A0-D1D0-458352BB94C9}"/>
              </a:ext>
            </a:extLst>
          </p:cNvPr>
          <p:cNvSpPr/>
          <p:nvPr/>
        </p:nvSpPr>
        <p:spPr>
          <a:xfrm>
            <a:off x="98084" y="2937351"/>
            <a:ext cx="655913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TW" altLang="en-US" sz="3200" b="1" cap="all" dirty="0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對象</a:t>
            </a:r>
            <a:r>
              <a:rPr lang="en-US" altLang="zh-TW" sz="3200" b="1" cap="all" dirty="0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: </a:t>
            </a:r>
            <a:r>
              <a:rPr lang="zh-HK" altLang="en-US" sz="3200" b="1" cap="all" dirty="0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小一至小五</a:t>
            </a:r>
            <a:endParaRPr lang="en-US" altLang="zh-HK" sz="3200" b="1" cap="all" dirty="0">
              <a:ln w="9000" cmpd="sng">
                <a:solidFill>
                  <a:srgbClr val="0070C0"/>
                </a:solidFill>
                <a:prstDash val="solid"/>
              </a:ln>
              <a:solidFill>
                <a:srgbClr val="0070C0"/>
              </a:solidFill>
              <a:effectLst>
                <a:reflection blurRad="12700" stA="28000" endPos="45000" dist="1000" dir="5400000" sy="-100000" algn="bl" rotWithShape="0"/>
              </a:effectLst>
              <a:latin typeface="+mn-ea"/>
            </a:endParaRPr>
          </a:p>
          <a:p>
            <a:pPr algn="just">
              <a:defRPr/>
            </a:pP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費用</a:t>
            </a:r>
            <a:r>
              <a:rPr lang="en-US" altLang="zh-TW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:</a:t>
            </a: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zh-TW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(</a:t>
            </a: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會員</a:t>
            </a:r>
            <a:r>
              <a:rPr lang="en-US" altLang="zh-TW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)$560/6</a:t>
            </a: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堂  </a:t>
            </a:r>
            <a:endParaRPr lang="en-US" altLang="zh-TW" sz="3200" b="1" dirty="0">
              <a:ln w="10541" cmpd="sng">
                <a:solidFill>
                  <a:srgbClr val="0070C0"/>
                </a:solidFill>
                <a:prstDash val="solid"/>
              </a:ln>
              <a:solidFill>
                <a:srgbClr val="0070C0"/>
              </a:solidFill>
              <a:latin typeface="+mn-ea"/>
            </a:endParaRPr>
          </a:p>
          <a:p>
            <a:pPr algn="just">
              <a:defRPr/>
            </a:pP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材料費</a:t>
            </a:r>
            <a:r>
              <a:rPr lang="en-US" altLang="zh-TW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:</a:t>
            </a: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zh-TW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+mn-ea"/>
              </a:rPr>
              <a:t>$60</a:t>
            </a:r>
            <a:r>
              <a:rPr lang="zh-TW" altLang="en-US" sz="3200" b="1" dirty="0">
                <a:ln w="10541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latin typeface="Agency FB" pitchFamily="34" charset="0"/>
                <a:ea typeface="Adobe 繁黑體 Std B" pitchFamily="34" charset="-120"/>
              </a:rPr>
              <a:t>      </a:t>
            </a:r>
            <a:endParaRPr lang="en-US" altLang="zh-TW" sz="3200" b="1" cap="all" dirty="0">
              <a:ln w="9000" cmpd="sng">
                <a:solidFill>
                  <a:srgbClr val="0070C0"/>
                </a:solidFill>
                <a:prstDash val="solid"/>
              </a:ln>
              <a:solidFill>
                <a:srgbClr val="0070C0"/>
              </a:solidFill>
              <a:effectLst>
                <a:reflection blurRad="12700" stA="28000" endPos="45000" dist="1000" dir="5400000" sy="-100000" algn="bl" rotWithShape="0"/>
              </a:effectLst>
              <a:latin typeface="+mn-ea"/>
            </a:endParaRPr>
          </a:p>
          <a:p>
            <a:r>
              <a:rPr lang="zh-TW" altLang="zh-TW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內容</a:t>
            </a:r>
            <a:r>
              <a:rPr lang="en-US" altLang="zh-TW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 :</a:t>
            </a:r>
            <a:r>
              <a:rPr lang="zh-TW" altLang="en-US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資深導師由淺入深，透過多元化的互動形式以拼音</a:t>
            </a:r>
            <a:r>
              <a:rPr lang="en-US" altLang="zh-TW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(Phonics) </a:t>
            </a:r>
            <a:r>
              <a:rPr lang="zh-TW" altLang="en-US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方式教授：字母</a:t>
            </a:r>
            <a:r>
              <a:rPr lang="en-US" altLang="zh-TW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A-Z</a:t>
            </a:r>
            <a:r>
              <a:rPr lang="zh-TW" altLang="en-US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丶短元音丶長元音丶輔音</a:t>
            </a:r>
            <a:r>
              <a:rPr lang="en-US" altLang="zh-TW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/</a:t>
            </a:r>
            <a:r>
              <a:rPr lang="zh-TW" altLang="en-US" sz="3200" dirty="0">
                <a:ln>
                  <a:solidFill>
                    <a:srgbClr val="0070C0"/>
                  </a:solidFill>
                </a:ln>
                <a:solidFill>
                  <a:srgbClr val="49701E"/>
                </a:solidFill>
              </a:rPr>
              <a:t>字母組合等，讓幼兒輕鬆地學習拼讀英文生字的技巧。</a:t>
            </a:r>
            <a:endParaRPr lang="en-US" altLang="zh-TW" sz="3200" b="1" dirty="0">
              <a:ln w="1905">
                <a:solidFill>
                  <a:srgbClr val="0070C0"/>
                </a:solidFill>
              </a:ln>
              <a:solidFill>
                <a:srgbClr val="49701E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7DA388-1F49-8FB1-0D21-1C631E79D601}"/>
              </a:ext>
            </a:extLst>
          </p:cNvPr>
          <p:cNvSpPr txBox="1"/>
          <p:nvPr/>
        </p:nvSpPr>
        <p:spPr>
          <a:xfrm>
            <a:off x="517121" y="1280592"/>
            <a:ext cx="5873018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72000" marR="0" lvl="0" indent="0" algn="ctr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normalizeH="0" baseline="0" noProof="0" dirty="0">
                <a:ln/>
                <a:solidFill>
                  <a:schemeClr val="accent3"/>
                </a:solidFill>
                <a:uLnTx/>
                <a:uFillTx/>
                <a:latin typeface="Rockwell"/>
                <a:ea typeface="標楷體" panose="03000509000000000000" pitchFamily="65" charset="-120"/>
                <a:cs typeface="+mn-cs"/>
              </a:rPr>
              <a:t>I LOVE PHONICS B</a:t>
            </a:r>
            <a:r>
              <a:rPr lang="en-US" altLang="zh-TW" sz="3600" b="1" dirty="0">
                <a:ln/>
                <a:solidFill>
                  <a:schemeClr val="accent3"/>
                </a:solidFill>
                <a:latin typeface="Rockwell"/>
                <a:ea typeface="標楷體" panose="03000509000000000000" pitchFamily="65" charset="-120"/>
              </a:rPr>
              <a:t>(</a:t>
            </a:r>
            <a:r>
              <a:rPr lang="zh-CN" altLang="en-US" sz="3600" b="1" dirty="0">
                <a:ln/>
                <a:solidFill>
                  <a:schemeClr val="accent3"/>
                </a:solidFill>
                <a:latin typeface="Rockwell"/>
                <a:ea typeface="標楷體" panose="03000509000000000000" pitchFamily="65" charset="-120"/>
              </a:rPr>
              <a:t>中班</a:t>
            </a:r>
            <a:r>
              <a:rPr lang="en-US" altLang="zh-TW" sz="3600" b="1" dirty="0">
                <a:ln/>
                <a:solidFill>
                  <a:schemeClr val="accent3"/>
                </a:solidFill>
                <a:latin typeface="Rockwell"/>
                <a:ea typeface="標楷體" panose="03000509000000000000" pitchFamily="65" charset="-120"/>
              </a:rPr>
              <a:t>)</a:t>
            </a:r>
            <a:endParaRPr kumimoji="0" lang="en-US" altLang="zh-TW" sz="3600" b="1" i="0" u="none" strike="noStrike" kern="1200" normalizeH="0" baseline="0" noProof="0" dirty="0">
              <a:ln/>
              <a:solidFill>
                <a:schemeClr val="accent3"/>
              </a:solidFill>
              <a:uLnTx/>
              <a:uFillTx/>
              <a:latin typeface="Rockwell"/>
              <a:ea typeface="標楷體" panose="03000509000000000000" pitchFamily="65" charset="-120"/>
              <a:cs typeface="+mn-cs"/>
            </a:endParaRPr>
          </a:p>
        </p:txBody>
      </p:sp>
      <p:pic>
        <p:nvPicPr>
          <p:cNvPr id="11" name="圖片 10" descr="一張含有 美工圖案, 動畫卡通, 圖解, 圖畫 的圖片&#10;&#10;自動產生的描述">
            <a:extLst>
              <a:ext uri="{FF2B5EF4-FFF2-40B4-BE49-F238E27FC236}">
                <a16:creationId xmlns:a16="http://schemas.microsoft.com/office/drawing/2014/main" id="{A4FB5F12-F306-E16B-8645-085505D3C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920" y="239773"/>
            <a:ext cx="2225654" cy="1112827"/>
          </a:xfrm>
          <a:prstGeom prst="rect">
            <a:avLst/>
          </a:prstGeom>
        </p:spPr>
      </p:pic>
      <p:pic>
        <p:nvPicPr>
          <p:cNvPr id="32" name="圖片 31" descr="一張含有 卡通, 美工圖案, 玩具 的圖片&#10;&#10;自動產生的描述">
            <a:extLst>
              <a:ext uri="{FF2B5EF4-FFF2-40B4-BE49-F238E27FC236}">
                <a16:creationId xmlns:a16="http://schemas.microsoft.com/office/drawing/2014/main" id="{282E1BDB-9AFE-6B33-45C0-AE430D003F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1" r="3086" b="9547"/>
          <a:stretch>
            <a:fillRect/>
          </a:stretch>
        </p:blipFill>
        <p:spPr>
          <a:xfrm>
            <a:off x="-27384" y="8193360"/>
            <a:ext cx="1965167" cy="1703144"/>
          </a:xfrm>
          <a:prstGeom prst="rect">
            <a:avLst/>
          </a:prstGeom>
        </p:spPr>
      </p:pic>
      <p:pic>
        <p:nvPicPr>
          <p:cNvPr id="22" name="圖片 21" descr="一張含有 辦公用品, 文具, 兒童藝術, 一般物資 的圖片&#10;&#10;AI 產生的內容可能不正確。">
            <a:extLst>
              <a:ext uri="{FF2B5EF4-FFF2-40B4-BE49-F238E27FC236}">
                <a16:creationId xmlns:a16="http://schemas.microsoft.com/office/drawing/2014/main" id="{0CFE462E-D79B-37FF-1DB3-EB98C3BED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448" y="6490307"/>
            <a:ext cx="2266936" cy="3359237"/>
          </a:xfrm>
          <a:prstGeom prst="rect">
            <a:avLst/>
          </a:prstGeom>
        </p:spPr>
      </p:pic>
      <p:pic>
        <p:nvPicPr>
          <p:cNvPr id="24" name="圖片 23" descr="一張含有 美工圖案, 動畫卡通, 動畫, 卡通 的圖片&#10;&#10;AI 產生的內容可能不正確。">
            <a:extLst>
              <a:ext uri="{FF2B5EF4-FFF2-40B4-BE49-F238E27FC236}">
                <a16:creationId xmlns:a16="http://schemas.microsoft.com/office/drawing/2014/main" id="{DD181743-0788-EBE9-B45E-2231223074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6" r="1127" b="15838"/>
          <a:stretch>
            <a:fillRect/>
          </a:stretch>
        </p:blipFill>
        <p:spPr>
          <a:xfrm>
            <a:off x="4155546" y="2231995"/>
            <a:ext cx="2873854" cy="1856909"/>
          </a:xfrm>
          <a:prstGeom prst="rect">
            <a:avLst/>
          </a:prstGeom>
        </p:spPr>
      </p:pic>
      <p:pic>
        <p:nvPicPr>
          <p:cNvPr id="29" name="圖片 28" descr="一張含有 動畫卡通, 美工圖案, 微笑, 圖解 的圖片&#10;&#10;AI 產生的內容可能不正確。">
            <a:extLst>
              <a:ext uri="{FF2B5EF4-FFF2-40B4-BE49-F238E27FC236}">
                <a16:creationId xmlns:a16="http://schemas.microsoft.com/office/drawing/2014/main" id="{2CE16189-41DE-8664-6A68-668AFA3933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526" y="8092301"/>
            <a:ext cx="2552723" cy="1914542"/>
          </a:xfrm>
          <a:prstGeom prst="rect">
            <a:avLst/>
          </a:prstGeom>
        </p:spPr>
      </p:pic>
      <p:grpSp>
        <p:nvGrpSpPr>
          <p:cNvPr id="38" name="群組 37">
            <a:extLst>
              <a:ext uri="{FF2B5EF4-FFF2-40B4-BE49-F238E27FC236}">
                <a16:creationId xmlns:a16="http://schemas.microsoft.com/office/drawing/2014/main" id="{C95401E9-E710-060B-284A-BAC755472E9D}"/>
              </a:ext>
            </a:extLst>
          </p:cNvPr>
          <p:cNvGrpSpPr/>
          <p:nvPr/>
        </p:nvGrpSpPr>
        <p:grpSpPr>
          <a:xfrm>
            <a:off x="362824" y="7179365"/>
            <a:ext cx="3150923" cy="967023"/>
            <a:chOff x="-2860720" y="4417522"/>
            <a:chExt cx="3150923" cy="967023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60C1E0C8-751D-FCC6-98EA-E1736DB77E39}"/>
                </a:ext>
              </a:extLst>
            </p:cNvPr>
            <p:cNvSpPr txBox="1"/>
            <p:nvPr/>
          </p:nvSpPr>
          <p:spPr>
            <a:xfrm>
              <a:off x="-1870988" y="4611775"/>
              <a:ext cx="2161191" cy="71508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40" name="圖片 39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E8C03DCD-96B3-28D8-1A4C-2D7C51FF7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60720" y="4417522"/>
              <a:ext cx="967023" cy="967023"/>
            </a:xfrm>
            <a:prstGeom prst="rect">
              <a:avLst/>
            </a:prstGeom>
          </p:spPr>
        </p:pic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E22BF20-C16D-B672-6C00-E84F5C77DD7B}"/>
              </a:ext>
            </a:extLst>
          </p:cNvPr>
          <p:cNvSpPr txBox="1"/>
          <p:nvPr/>
        </p:nvSpPr>
        <p:spPr>
          <a:xfrm>
            <a:off x="44624" y="6795591"/>
            <a:ext cx="4754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報名</a:t>
            </a:r>
            <a:r>
              <a:rPr lang="en-US" altLang="zh-TW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TW" alt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上課地點</a:t>
            </a:r>
            <a:r>
              <a:rPr lang="en-US" altLang="zh-TW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zh-TW" alt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山景社區會堂</a:t>
            </a:r>
          </a:p>
        </p:txBody>
      </p:sp>
      <p:sp>
        <p:nvSpPr>
          <p:cNvPr id="42" name="日期">
            <a:extLst>
              <a:ext uri="{FF2B5EF4-FFF2-40B4-BE49-F238E27FC236}">
                <a16:creationId xmlns:a16="http://schemas.microsoft.com/office/drawing/2014/main" id="{857B5906-4341-AA36-6B66-B25E3FC587DA}"/>
              </a:ext>
            </a:extLst>
          </p:cNvPr>
          <p:cNvSpPr txBox="1"/>
          <p:nvPr/>
        </p:nvSpPr>
        <p:spPr>
          <a:xfrm>
            <a:off x="98084" y="1892635"/>
            <a:ext cx="4556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cap="all" dirty="0" err="1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日期 : 04/12-22/01/2026</a:t>
            </a:r>
          </a:p>
        </p:txBody>
      </p:sp>
      <p:sp>
        <p:nvSpPr>
          <p:cNvPr id="43" name="時間">
            <a:extLst>
              <a:ext uri="{FF2B5EF4-FFF2-40B4-BE49-F238E27FC236}">
                <a16:creationId xmlns:a16="http://schemas.microsoft.com/office/drawing/2014/main" id="{CD732DB1-934A-18C3-0E10-1EEA2F5E54B4}"/>
              </a:ext>
            </a:extLst>
          </p:cNvPr>
          <p:cNvSpPr txBox="1"/>
          <p:nvPr/>
        </p:nvSpPr>
        <p:spPr>
          <a:xfrm>
            <a:off x="98084" y="2424009"/>
            <a:ext cx="29306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cap="all" dirty="0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時間：</a:t>
            </a:r>
            <a:r>
              <a:rPr lang="en-US" altLang="zh-CN" sz="3200" cap="all">
                <a:ln w="9000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latin typeface="+mn-ea"/>
              </a:rPr>
              <a:t>1232131</a:t>
            </a:r>
            <a:endParaRPr sz="3200" cap="all" dirty="0">
              <a:ln w="9000" cmpd="sng">
                <a:solidFill>
                  <a:srgbClr val="0070C0"/>
                </a:solidFill>
                <a:prstDash val="solid"/>
              </a:ln>
              <a:solidFill>
                <a:srgbClr val="0070C0"/>
              </a:solidFill>
              <a:effectLst>
                <a:reflection blurRad="12700" stA="28000" endPos="45000" dist="1000" dir="5400000" sy="-100000" algn="bl" rotWithShape="0"/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26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96</Words>
  <Application>Microsoft Office PowerPoint</Application>
  <PresentationFormat>A4 纸张(210x297 毫米)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新細明體</vt:lpstr>
      <vt:lpstr>Agency FB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8</cp:revision>
  <dcterms:created xsi:type="dcterms:W3CDTF">2025-11-17T06:29:13Z</dcterms:created>
  <dcterms:modified xsi:type="dcterms:W3CDTF">2025-11-17T11:59:23Z</dcterms:modified>
</cp:coreProperties>
</file>